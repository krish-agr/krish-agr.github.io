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Pilot Result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Doc Extraction Acc.</c:v>
                  </c:pt>
                  <c:pt idx="1">
                    <c:v>Identity Verif. Acc.</c:v>
                  </c:pt>
                  <c:pt idx="2">
                    <c:v>HITL Escalation Rate</c:v>
                  </c:pt>
                  <c:pt idx="3">
                    <c:v>Auto-Approve Rate</c:v>
                  </c:pt>
                  <c:pt idx="4">
                    <c:v>Analyst CSAT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97.3</c:v>
                </c:pt>
                <c:pt idx="1">
                  <c:v>96.1</c:v>
                </c:pt>
                <c:pt idx="2">
                  <c:v>16</c:v>
                </c:pt>
                <c:pt idx="3">
                  <c:v>84</c:v>
                </c:pt>
                <c:pt idx="4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· 2023–2024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KYC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Agent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PoC to EU AI Act–Approved Production Pilot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Dutch Bank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393192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High Risk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393192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8-Sprint Delivery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Agrawal  ·  AI Product Manager, PwC Netherlands  ·  linkedin.com/in/krishnaagrawal1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5661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35661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200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KYC onboarding.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daily applications.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€8.2M annual manual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 automation attempts rejected by risk committee.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777240"/>
            <a:ext cx="35661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777240"/>
            <a:ext cx="35661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417320"/>
            <a:ext cx="3200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LangGraph system.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specialised AI agents.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EU AI Act compliance baked 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777240"/>
            <a:ext cx="35661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0" y="777240"/>
            <a:ext cx="35661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1417320"/>
            <a:ext cx="3200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onboarding.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manual effort reduction.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EU AI Act–approved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KYC in NL banking.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6035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6400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6035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6400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6035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6400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applications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52560" y="6035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sprints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52560" y="6400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to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 ·  8-SPRINT DELIVERY PLAN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28346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DISCOVER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566160" y="685800"/>
            <a:ext cx="2834640" cy="320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685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BUILD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685800"/>
            <a:ext cx="28346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685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INTEGRATE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28346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685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LAUNCH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9728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9728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161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Scoping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19385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18836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stakeholder interviews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" y="26243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5694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mapping workshop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" y="33101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2552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risk classification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" y="39959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9410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log v1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" y="46817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46268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requirements doc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109728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29000" y="109728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1161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S3–S4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38728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Doc Ingestion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38728" y="19385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21608" y="18836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pipeline integration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38728" y="26243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21608" y="25694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field extraction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38728" y="33101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1608" y="32552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framework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38728" y="39959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21608" y="39410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100-document internal test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38728" y="46817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21608" y="46268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accuracy: 97.3%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37960" y="109728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37960" y="109728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47688" y="1161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47688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2+3 &amp; Integration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47688" y="19385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0568" y="18836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agent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47688" y="26243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30568" y="25694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/ PEP screening agent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47688" y="33101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0568" y="32552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 layer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47688" y="39959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0568" y="39410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queue UI (Figma → build)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647688" y="46817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30568" y="46268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observability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646920" y="109728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646920" y="1097280"/>
            <a:ext cx="27432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56648" y="1161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S7–S8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756648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Production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756648" y="1938528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39528" y="18836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committee presentation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756648" y="2624328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39528" y="25694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audit complete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756648" y="3310128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39528" y="32552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500-app production pilot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756648" y="3995928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939528" y="39410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rate: 16%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756648" y="4681728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939528" y="46268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Compliance sign-off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5943600"/>
            <a:ext cx="2286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59070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828800" y="5943600"/>
            <a:ext cx="228600" cy="1280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03120" y="59070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PRIORITISATION  ·  MoSCoW FRAMEWORK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834640" cy="53949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283464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5486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607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 pipeline (≥97% accuracy)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5486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282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AML/PEP risk scoring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450592"/>
            <a:ext cx="5486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escalation queue with rationale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118104"/>
            <a:ext cx="5486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per decision (EU AI Act Art. 12)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5486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EU-region data residency (GDPR Art. 44)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453128"/>
            <a:ext cx="5486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3982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thresholds per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120640"/>
            <a:ext cx="5486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0657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committee documentation package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29000" y="640080"/>
            <a:ext cx="2834640" cy="53949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9000" y="640080"/>
            <a:ext cx="28346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640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66160" y="1115568"/>
            <a:ext cx="5486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10607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dashboard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1783080"/>
            <a:ext cx="5486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85032" y="17282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override tracking &amp; analytics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66160" y="2450592"/>
            <a:ext cx="5486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5032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alerting (Slack integration)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66160" y="3118104"/>
            <a:ext cx="5486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for off-peak capacity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66160" y="3785616"/>
            <a:ext cx="5486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85032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status notifications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66160" y="4453128"/>
            <a:ext cx="5486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85032" y="43982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 for document photos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92240" y="640080"/>
            <a:ext cx="2834640" cy="53949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92240" y="640080"/>
            <a:ext cx="283464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640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29400" y="1115568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48272" y="10607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document support (FR, DE)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29400" y="1783080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17282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Mobile-optimised document upload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29400" y="2450592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48272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analyst threshold tuning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629400" y="3118104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 on audit logs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629400" y="3785616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regulatory report generation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555480" y="640080"/>
            <a:ext cx="2834640" cy="5394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555480" y="640080"/>
            <a:ext cx="283464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55480" y="640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 (v1)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692640" y="1115568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11512" y="10607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Corporate/institutional KYC flows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692640" y="1783080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11512" y="17282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(non-EU) document types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692640" y="2450592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11512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legacy core banking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692640" y="3118104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11512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AI explanation UI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692640" y="3785616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11512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scoring (ML model v2)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 &amp;  SUCCESS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Key Results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686800" cy="22860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customer onboarding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 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 achieved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manual analyst 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 /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27 min /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min achieved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 risk committee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(3x)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decision accuracy (FNR)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 in pilot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reliability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99.5% uptime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 in pilot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 KPIs — Pilot Results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3931920"/>
          <a:ext cx="6400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9144000" y="3566160"/>
            <a:ext cx="274320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THRESHOLDS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9235440" y="4041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Accuracy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607040" y="40416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97%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235440" y="44988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Accuracy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607040" y="44988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235440" y="4956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0607040" y="49560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15–18%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235440" y="5413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607040" y="54132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82–85%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235440" y="58704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CSAT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0607040" y="58704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COMPLIANCE FRAMEWORK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HIGH RISK AI SYSTEM  —  EU AI Act Annex III, Section 8.1  (Creditworthiness evaluation)  |  Articles 9–15 fully implemented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417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35608"/>
            <a:ext cx="100584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35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737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maintained throughout lifecycle. Reviewed each sprint. Owner: PM.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1460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606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624328"/>
            <a:ext cx="100584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624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9260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quality standards documented. Lineage tracked via dbt. DPO sign-off.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0332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947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25880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813048"/>
            <a:ext cx="100584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architecture doc, model card, and audit pack prepared before deployment.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89204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89204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9834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25880" y="4983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Keeping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5001768"/>
            <a:ext cx="100584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5001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5303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full trace logging. 7-year retention in immutable audit store.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132588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132588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1417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60920" y="1417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789920" y="1435608"/>
            <a:ext cx="100584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0" y="1435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0" y="1737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disclosed AI involvement in onboarding flow. Plain language explanation.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251460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0" y="251460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606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60920" y="2606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789920" y="2624328"/>
            <a:ext cx="100584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0" y="2624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83680" y="29260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escalation framework. Analyst override capability. PM dashboard alerts.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370332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00800" y="370332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7947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60920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789920" y="3813048"/>
            <a:ext cx="100584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789920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83680" y="4114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 per agent. Graceful fallback to full HITL on any error state.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 ·  LangGraph + LangSmith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22860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31720" y="2834640"/>
            <a:ext cx="457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914400"/>
            <a:ext cx="2377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34640" y="914400"/>
            <a:ext cx="2377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914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21031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LLM extraction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confidence scoring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274320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914400"/>
            <a:ext cx="2377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914400"/>
            <a:ext cx="237744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914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21031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cross-referencing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matching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274320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914400"/>
            <a:ext cx="2377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914400"/>
            <a:ext cx="23774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914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/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5320" y="21031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PEP/sanctions screening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risk reasoning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0–1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34640" y="4754880"/>
            <a:ext cx="7680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34640" y="4754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LANGRAPH ORCHESTRATOR  —  Confidence aggregation, routing logic, HITL decision, audit record generation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744200" y="1645920"/>
            <a:ext cx="1234440" cy="201168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44200" y="1645920"/>
            <a:ext cx="1234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≤18%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5440680"/>
            <a:ext cx="228600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5440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 ·  MITIGATIONS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772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miscalibrated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(over-approving risky applications)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1280160" cy="32004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14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MEDIUM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72200" y="914400"/>
            <a:ext cx="1280160" cy="320040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914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Imp: 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0" y="75895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calibration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Post-audit sample: 5% auto-approvals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false-negative rate monitoring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0" y="758952"/>
            <a:ext cx="0" cy="822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83080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8745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breach via PII in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logs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1280160" cy="3200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2011680"/>
            <a:ext cx="1280160" cy="320040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Imp: 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0" y="185623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scrubbing middleware before LangSmith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audit gate in CI/CD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sign-off on logging architecture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856232"/>
            <a:ext cx="0" cy="822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880360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971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SLA breach from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DB response 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1280160" cy="32004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MEDIUM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3108960"/>
            <a:ext cx="1280160" cy="32004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Imp: 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80960" y="29535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screening with provisional 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results for low-risk profiles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alerting in LangSmith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2953512"/>
            <a:ext cx="0" cy="822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977640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069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committee delays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past pilot date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4206240"/>
            <a:ext cx="1280160" cy="32004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MEDIUM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4206240"/>
            <a:ext cx="1280160" cy="32004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Imp: MEDIUM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0507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compliance check-ins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lead embedded in sprint reviews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Pre-agreed approval checklist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98080" y="4050792"/>
            <a:ext cx="0" cy="822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5074920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5166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resistance to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5303520"/>
            <a:ext cx="1280160" cy="32004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5303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MEDIUM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5303520"/>
            <a:ext cx="1280160" cy="3200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5303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Imp: 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80960" y="514807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 sessions with analyst 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2 volunteer analysts first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training plan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98080" y="5148072"/>
            <a:ext cx="0" cy="822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PoC to EU AI Act–Approved Production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3774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237744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onboarding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48 hours)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3774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103120"/>
            <a:ext cx="237744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3154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3774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103120"/>
            <a:ext cx="237744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3154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escalation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(target: ≤18%)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2103120"/>
            <a:ext cx="23774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0" y="2103120"/>
            <a:ext cx="237744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869680" y="3154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(target: ≤1.5%)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10881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63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EU AI Act–approved agentic KYC system at a Tier-1 Dutch bank  ·  Risk committee approved after 3 prior rejections  ·  Full production launch Q3 2024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Agrawal  ·  krishna.p.agrawal2906@gmail.com  ·  linkedin.com/in/krishnaagrawal1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Product Roadmap — KYC Onboarding Agent</dc:title>
  <dc:subject>PptxGenJS Presentation</dc:subject>
  <dc:creator>Krishna Agrawal</dc:creator>
  <cp:lastModifiedBy>Krishna Agrawal</cp:lastModifiedBy>
  <cp:revision>1</cp:revision>
  <dcterms:created xsi:type="dcterms:W3CDTF">2026-05-05T10:37:36Z</dcterms:created>
  <dcterms:modified xsi:type="dcterms:W3CDTF">2026-05-05T10:37:36Z</dcterms:modified>
</cp:coreProperties>
</file>